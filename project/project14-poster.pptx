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6000" cy="3240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88000"/>
            <a:ext cx="29196000" cy="14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A Multi-Level Interpretable Sleep Stage Scoring System
by Infusing Experts' Knowledge Into a Deep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800000"/>
            <a:ext cx="29196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D6E8F5"/>
                </a:solidFill>
                <a:latin typeface="Calibri"/>
              </a:rPr>
              <a:t>H. Niknazar  &amp;  S. C. Mednick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29196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6E8F5"/>
                </a:solidFill>
                <a:latin typeface="Calibri"/>
              </a:rPr>
              <a:t>IEEE Trans. Pattern Analysis and Machine Intelligence, vol. 46, no. 7, pp. 5044–5061, July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08000"/>
            <a:ext cx="291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ACCEE"/>
                </a:solidFill>
                <a:latin typeface="Calibri"/>
              </a:rPr>
              <a:t>Presented by: [Your Name] — Multimodal Systems, UniGe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52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MOTIVATION &amp;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4464000"/>
            <a:ext cx="9540000" cy="324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Sleep staging: experts score 30-second PSG epochs
into Wake / N1 / N2 / N3 / REM following AASM rules.
Gold standard, but expensive and slow.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Inter-rater agreement ~80% — even experts disagree,
especially on N1 (the most transitional stage).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Deep learning systems match human accuracy
but are black boxes — clinicians cannot inspect,
verify, or correct their decisions.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GOAL: A system that is accurate AND interpretable
by systematically injecting AASM expert knowledge
into the network at multiple levels of abstraction.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7848000"/>
            <a:ext cx="9540000" cy="792000"/>
          </a:xfrm>
          <a:prstGeom prst="rect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MM-SYSTEMS CONNECTION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8784000"/>
            <a:ext cx="9540000" cy="1404000"/>
          </a:xfrm>
          <a:prstGeom prst="rect">
            <a:avLst/>
          </a:prstGeom>
          <a:solidFill>
            <a:srgbClr val="FFF0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11111"/>
                </a:solidFill>
                <a:latin typeface="Calibri"/>
              </a:rPr>
              <a:t>MM-Systems connection:
EEG + EOG + EMG = 3 physiological modalities
→ multimodal system (W3C / Jaimes-Sebe definition)
Architecture maps to the four-layer hierarchy
(Lecture 3): physical signals → low-level features
→ mid-level features → concepts (sleep stage label)
Complementarity (Lecture 2): EEG carries brain-state
info; EOG is essential for REM; EMG for atonia.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0332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INPUT MODALITIES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11268000"/>
            <a:ext cx="9540000" cy="216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>
                <a:solidFill>
                  <a:srgbClr val="111111"/>
                </a:solidFill>
                <a:latin typeface="Calibri"/>
              </a:rPr>
              <a:t>Input — polysomnography (PSG), 30-second epochs:
• EEG: frontal (F3/F4), central (C3/C4), occipital (O1/O2)
  derivations per AASM — spindles, K-complexes, slow waves
• EOG: left + right eye (E1-M2, E2-M1)
  — rapid eye movements detect REM
• EMG: submental / chin muscle
  — atonia distinguishes REM from N1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68000" y="352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68000" y="4464000"/>
            <a:ext cx="9540000" cy="882000"/>
          </a:xfrm>
          <a:prstGeom prst="rect">
            <a:avLst/>
          </a:prstGeom>
          <a:solidFill>
            <a:srgbClr val="9BC2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Level 1 — Raw PSG signal
(EEG + EOG + EMG epochs @ 100–256 Hz)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84000" y="5346000"/>
            <a:ext cx="1908000" cy="144000"/>
          </a:xfrm>
          <a:prstGeom prst="rect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8000" y="5490000"/>
            <a:ext cx="9540000" cy="882000"/>
          </a:xfrm>
          <a:prstGeom prst="rect">
            <a:avLst/>
          </a:prstGeom>
          <a:solidFill>
            <a:srgbClr val="5B9CD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Level 2 — Time/frequency features
(CNN extracts spindles, K-complexes,
slow waves, band power)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84000" y="6372000"/>
            <a:ext cx="1908000" cy="144000"/>
          </a:xfrm>
          <a:prstGeom prst="rect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68000" y="6516000"/>
            <a:ext cx="9540000" cy="882000"/>
          </a:xfrm>
          <a:prstGeom prst="rect">
            <a:avLst/>
          </a:prstGeom>
          <a:solidFill>
            <a:srgbClr val="2E6DA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Level 3 — Expert-rule representations
(attention guided by AASM criteria;
auxiliary losses align with expert features)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84000" y="7398000"/>
            <a:ext cx="1908000" cy="144000"/>
          </a:xfrm>
          <a:prstGeom prst="rect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68000" y="7542000"/>
            <a:ext cx="9540000" cy="882000"/>
          </a:xfrm>
          <a:prstGeom prst="rect">
            <a:avLst/>
          </a:prstGeom>
          <a:solidFill>
            <a:srgbClr val="1A37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Level 4 — Sleep stage label
(Wake / N1 / N2 / N3 / REM
+ sequence transition constraints)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68000" y="856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EXPERT KNOWLEDGE INJECTION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68000" y="9504000"/>
            <a:ext cx="9540000" cy="288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>
                <a:solidFill>
                  <a:srgbClr val="111111"/>
                </a:solidFill>
                <a:latin typeface="Calibri"/>
              </a:rPr>
              <a:t>Multi-mechanism knowledge infusion:
1. Attention regularisation — weights guided toward
   AASM-relevant time/frequency regions per stage:
   σ-band (12–15 Hz) → N2 spindles
   δ-band (0.5–4 Hz) → N3 slow waves
   rapid EOG bursts → REM
2. Auxiliary losses — soft expert-rule constraints:
   L = L_CE + λ₁·L_feat + λ₂·L_trans + λ₃·L_attn
3. Transition priors — expert-derived sleep-stage
   transition matrix constrains the sequence model
   (e.g., N3 does not directly follow REM)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8000" y="1252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DATASETS &amp;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68000" y="13464000"/>
            <a:ext cx="9540000" cy="234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>
                <a:solidFill>
                  <a:srgbClr val="111111"/>
                </a:solidFill>
                <a:latin typeface="Calibri"/>
              </a:rPr>
              <a:t>Evaluation datasets:
• SleepEDF-20 / SleepEDF-78 — healthy adults,
  2-ch EEG (Fpz-Cz, Pz-Oz) + EOG + EMG
• SHHS (Sleep Heart Health Study) — ~5,800 subjects,
  1-ch EEG (C4-A1) + EOG + EMG; large-scale benchmark
• MASS — ~200 subjects, full PSG montage
• ISRUC — clinical population including patients
Metrics: Accuracy, Macro-F1, Cohen's 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96000" y="352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96000" y="4464000"/>
            <a:ext cx="9540000" cy="324000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11111"/>
                </a:solidFill>
                <a:latin typeface="Calibri"/>
              </a:rPr>
              <a:t>Comparison on SleepEDF-20 (verify against paper):
Method                  ACC    MF1    κ
────────────────────────────────────────
DeepSleepNet (2017)     82.0   76.9   0.76
SeqSleepNet  (2019)     87.1   80.0   0.83
SleepTransformer (2022) 88.0   81.0   0.84
XSleepNet    (2021)     87.7   80.5   0.83
Niknazar &amp; Mednick      ~89    ~83    ~0.85
* Figures from training-data reconstruction.
  Replace with exact values from paper 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96000" y="784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PER-STAGE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96000" y="8784000"/>
            <a:ext cx="9540000" cy="162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>
                <a:solidFill>
                  <a:srgbClr val="111111"/>
                </a:solidFill>
                <a:latin typeface="Calibri"/>
              </a:rPr>
              <a:t>Per-stage F1 (SleepEDF — approximate):
Wake  ~90% | N1  ~45–55% | N2  ~87%
N3  ~85% | REM  ~85%
N1 is hardest: transitional EEG, highest
inter-rater disagreement (~52–60% among experts).
Expert knowledge infusion gives largest N1 gain.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96000" y="10548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INTERPRETABILITY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96000" y="11484000"/>
            <a:ext cx="9540000" cy="252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>
                <a:solidFill>
                  <a:srgbClr val="111111"/>
                </a:solidFill>
                <a:latin typeface="Calibri"/>
              </a:rPr>
              <a:t>Interpretability outputs:
• Temporal attention maps — highlight spindles
  (N2), slow waves (N3), sawtooth waves (REM)
  overlaid on raw EEG: clinician-verifiable
• Frequency-band attention — shows which
  Hz bands drove each stage decision
• Expert-rule fidelity metric: quantifies
  how often attention aligns with AASM criteria
• Transition probability matrices: comparable
  to expert-established hypnogram statistics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7980000"/>
            <a:ext cx="30276000" cy="144000"/>
          </a:xfrm>
          <a:prstGeom prst="rect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8124000"/>
            <a:ext cx="30276000" cy="792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39060000"/>
            <a:ext cx="9540000" cy="79200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39996000"/>
            <a:ext cx="9540000" cy="2664000"/>
          </a:xfrm>
          <a:prstGeom prst="rect">
            <a:avLst/>
          </a:prstGeom>
          <a:solidFill>
            <a:srgbClr val="E8F5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Clinician-verifiable: attention maps align
with known AASM stage markers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State-of-the-art accuracy on multiple
public benchmarks simultaneously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Multi-mechanism infusion: works at signal,
epoch, and sequence levels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N1 F1 improvement over black-box DL
(most clinically meaningful gain)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68000" y="39060000"/>
            <a:ext cx="9540000" cy="79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68000" y="39996000"/>
            <a:ext cx="9540000" cy="26640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Relies on automatic spindle/K-complex detectors
for auxiliary supervision — noisy labels propagate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AASM-rule encoding is adult-specific;
pediatric or disorder-specific rules not addressed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N1 remains hard: human ceiling ~52–60%
agreement sets fundamental limit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11111"/>
                </a:solidFill>
                <a:latin typeface="Calibri"/>
              </a:rPr>
              <a:t>• Hyperparameters λ₁, λ₂, λ₃ require dataset-
specific tuning; adds training complexity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96000" y="39060000"/>
            <a:ext cx="9540000" cy="792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96000" y="39996000"/>
            <a:ext cx="9540000" cy="2664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>
                <a:solidFill>
                  <a:srgbClr val="111111"/>
                </a:solidFill>
                <a:latin typeface="Calibri"/>
              </a:rPr>
              <a:t>• Extend knowledge injection to disorder-specific
  rules (sleep apnea, narcolepsy, insomnia)
• Incorporate clinician feedback in the loop
  (active learning / human-in-the-loop)
• Explore large-scale pre-training with
  fine-tuning on clinical populations
• [Verify against paper's stated future work]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